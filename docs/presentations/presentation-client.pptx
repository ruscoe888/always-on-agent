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41278" cy="45720"/>
          </a:xfrm>
          <a:prstGeom prst="rect">
            <a:avLst/>
          </a:prstGeom>
          <a:solidFill>
            <a:srgbClr val="FFE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Wayne Enterprises — Ops Intelligence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1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CONFIDENTIAL — CLIENT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E300"/>
                </a:solidFill>
                <a:latin typeface="Calibri"/>
              </a:rPr>
              <a:t>Your ops team is fighting fires
instead of preventing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77777"/>
                </a:solidFill>
                <a:latin typeface="Calibri"/>
              </a:rPr>
              <a:t>Every hour your team spends manually triaging incidents, chasing deploy correlations, and auditing vendor contracts is an hour not spent on engineering that matters.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4572000" cy="109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Presented by  Wayne Enterprises — Applied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82557" cy="45720"/>
          </a:xfrm>
          <a:prstGeom prst="rect">
            <a:avLst/>
          </a:prstGeom>
          <a:solidFill>
            <a:srgbClr val="FFE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Wayne Enterprises — Ops Intelligence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2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THE SITUATION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E300"/>
                </a:solidFill>
                <a:latin typeface="Calibri"/>
              </a:rPr>
              <a:t>Sound familiar?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solidFill>
            <a:srgbClr val="120707"/>
          </a:solidFill>
          <a:ln w="9525">
            <a:solidFill>
              <a:srgbClr val="4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D8D8"/>
                </a:solidFill>
                <a:latin typeface="Calibri"/>
              </a:rPr>
              <a:t>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47088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Incidents land in a queue. Your team reads each one, searches for a runbook, and manually decides severity. 20–40 min per incident.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10881360" cy="914400"/>
          </a:xfrm>
          <a:prstGeom prst="rect">
            <a:avLst/>
          </a:prstGeom>
          <a:solidFill>
            <a:srgbClr val="120707"/>
          </a:solidFill>
          <a:ln w="9525">
            <a:solidFill>
              <a:srgbClr val="4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D8D8"/>
                </a:solidFill>
                <a:latin typeface="Calibri"/>
              </a:rPr>
              <a:t>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52928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Deploy correlations are guesswork. 'Did a recent release cause this?' requires a human to cross-reference timestamps — always late.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10881360" cy="914400"/>
          </a:xfrm>
          <a:prstGeom prst="rect">
            <a:avLst/>
          </a:prstGeom>
          <a:solidFill>
            <a:srgbClr val="120707"/>
          </a:solidFill>
          <a:ln w="9525">
            <a:solidFill>
              <a:srgbClr val="4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50207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D8D8"/>
                </a:solidFill>
                <a:latin typeface="Calibri"/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858768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Compliance drift goes unnoticed. Contracts are signed, filed, never re-audited. Violations accumulate silently until an incident forces a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54880"/>
            <a:ext cx="10881360" cy="914400"/>
          </a:xfrm>
          <a:prstGeom prst="rect">
            <a:avLst/>
          </a:prstGeom>
          <a:solidFill>
            <a:srgbClr val="120707"/>
          </a:solidFill>
          <a:ln w="9525">
            <a:solidFill>
              <a:srgbClr val="4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5604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D8D8"/>
                </a:solidFill>
                <a:latin typeface="Calibri"/>
              </a:rPr>
              <a:t>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864608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Nights and weekends are unmonitored. Issues surface at 2am, sit untriaged until standup. By then the customer has called the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223836" cy="45720"/>
          </a:xfrm>
          <a:prstGeom prst="rect">
            <a:avLst/>
          </a:prstGeom>
          <a:solidFill>
            <a:srgbClr val="FFE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Wayne Enterprises — Ops Intelligence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THE ANSWER — LEAD WITH THE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E300"/>
                </a:solidFill>
                <a:latin typeface="Calibri"/>
              </a:rPr>
              <a:t>An agent that never sleeps, never misses, never forgets.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10881360" cy="1097280"/>
          </a:xfrm>
          <a:prstGeom prst="rect">
            <a:avLst/>
          </a:prstGeom>
          <a:solidFill>
            <a:srgbClr val="100E00"/>
          </a:solidFill>
          <a:ln w="9525">
            <a:solidFill>
              <a:srgbClr val="50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54864" cy="1097280"/>
          </a:xfrm>
          <a:prstGeom prst="rect">
            <a:avLst/>
          </a:prstGeom>
          <a:solidFill>
            <a:srgbClr val="FFE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D8D8"/>
                </a:solidFill>
                <a:latin typeface="Calibri"/>
              </a:rPr>
              <a:t>We built an always-on ops agent that automatically triages every incident, correlates it with recent deployments, audits your vendor contracts, and files actionable GitHub Issues — every four hours, with zero human intervention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29000"/>
            <a:ext cx="2651760" cy="1280160"/>
          </a:xfrm>
          <a:prstGeom prst="rect">
            <a:avLst/>
          </a:prstGeom>
          <a:solidFill>
            <a:srgbClr val="101010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49300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E300"/>
                </a:solidFill>
                <a:latin typeface="Calibr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160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Issues filed
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429000"/>
            <a:ext cx="2651760" cy="1280160"/>
          </a:xfrm>
          <a:prstGeom prst="rect">
            <a:avLst/>
          </a:prstGeom>
          <a:solidFill>
            <a:srgbClr val="101010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49300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1744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60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Permission
prompts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429000"/>
            <a:ext cx="2651760" cy="1280160"/>
          </a:xfrm>
          <a:prstGeom prst="rect">
            <a:avLst/>
          </a:prstGeom>
          <a:solidFill>
            <a:srgbClr val="101010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49300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9B6F6"/>
                </a:solidFill>
                <a:latin typeface="Calibri"/>
              </a:rPr>
              <a:t>4h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Max detection
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429000"/>
            <a:ext cx="2651760" cy="1280160"/>
          </a:xfrm>
          <a:prstGeom prst="rect">
            <a:avLst/>
          </a:prstGeom>
          <a:solidFill>
            <a:srgbClr val="101010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49300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BA68C8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160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Compliance
violations 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It runs whether you are in a meeting, asleep, or on holiday. New data in the repo triggers a full re-analysis. Findings already filed are skipped — no noise, no duplicates.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965115" cy="45720"/>
          </a:xfrm>
          <a:prstGeom prst="rect">
            <a:avLst/>
          </a:prstGeom>
          <a:solidFill>
            <a:srgbClr val="FFE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Wayne Enterprises — Ops Intelligence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SUPPORTING ARGUMENT 1 —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E300"/>
                </a:solidFill>
                <a:latin typeface="Calibri"/>
              </a:rPr>
              <a:t>Two layers. One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148840" cy="1371600"/>
          </a:xfrm>
          <a:prstGeom prst="rect">
            <a:avLst/>
          </a:prstGeom>
          <a:solidFill>
            <a:srgbClr val="101010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93392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⏰ Cron Fires
Every 4 hours.
Zero infra.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920240"/>
            <a:ext cx="2148840" cy="1371600"/>
          </a:xfrm>
          <a:prstGeom prst="rect">
            <a:avLst/>
          </a:prstGeom>
          <a:solidFill>
            <a:srgbClr val="101010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1993392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📥 Git Pull
Fetches latest
issues &amp;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920240"/>
            <a:ext cx="2148840" cy="1371600"/>
          </a:xfrm>
          <a:prstGeom prst="rect">
            <a:avLst/>
          </a:prstGeom>
          <a:solidFill>
            <a:srgbClr val="101010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1993392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🧠 CLAUDE.md
All rules &amp;
logic. In git.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59" y="1920240"/>
            <a:ext cx="2148840" cy="1371600"/>
          </a:xfrm>
          <a:prstGeom prst="rect">
            <a:avLst/>
          </a:prstGeom>
          <a:solidFill>
            <a:srgbClr val="101010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7" y="1993392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🔍 Dedup
Skips already-
reported issues.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9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920240"/>
            <a:ext cx="2148840" cy="1371600"/>
          </a:xfrm>
          <a:prstGeom prst="rect">
            <a:avLst/>
          </a:prstGeom>
          <a:solidFill>
            <a:srgbClr val="101010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7" y="1993392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📋 Issues Filed
Net-new findings
only. Labelled.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40"/>
            <a:ext cx="3749039" cy="2651760"/>
          </a:xfrm>
          <a:prstGeom prst="rect">
            <a:avLst/>
          </a:prstGeom>
          <a:solidFill>
            <a:srgbClr val="101010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20440"/>
            <a:ext cx="54864" cy="2651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61188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1  Ops Triage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959352"/>
            <a:ext cx="3520439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Assigns P0–P3 severity, matches runbooks, recommends on-call team and specific fix steps.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520440"/>
            <a:ext cx="3749039" cy="2651760"/>
          </a:xfrm>
          <a:prstGeom prst="rect">
            <a:avLst/>
          </a:prstGeom>
          <a:solidFill>
            <a:srgbClr val="101010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520440"/>
            <a:ext cx="54864" cy="26517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61188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9B6F6"/>
                </a:solidFill>
                <a:latin typeface="Calibri"/>
              </a:rPr>
              <a:t>2  Incident Correlation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959352"/>
            <a:ext cx="3520439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Cross-references incidents with deploys within 48 hours. Identifies causal chains. Recommends rollbacks.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3520440"/>
            <a:ext cx="3749039" cy="2651760"/>
          </a:xfrm>
          <a:prstGeom prst="rect">
            <a:avLst/>
          </a:prstGeom>
          <a:solidFill>
            <a:srgbClr val="101010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3520440"/>
            <a:ext cx="54864" cy="2651760"/>
          </a:xfrm>
          <a:prstGeom prst="rect">
            <a:avLst/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361188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68C8"/>
                </a:solidFill>
                <a:latin typeface="Calibri"/>
              </a:rPr>
              <a:t>3  Compliance 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3959352"/>
            <a:ext cx="3520439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Checks every vendor contract against your 7-rule policy. Flags violations by severity with exact clause references.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06394" cy="45720"/>
          </a:xfrm>
          <a:prstGeom prst="rect">
            <a:avLst/>
          </a:prstGeom>
          <a:solidFill>
            <a:srgbClr val="FFE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Wayne Enterprises — Ops Intelligence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SUPPORTING ARGUMENT 2 — EVIDENCE FROM A REAL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E300"/>
                </a:solidFill>
                <a:latin typeface="Calibri"/>
              </a:rPr>
              <a:t>What it found in the first run.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02920" cy="530352"/>
          </a:xfrm>
          <a:prstGeom prst="rect">
            <a:avLst/>
          </a:prstGeom>
          <a:solidFill>
            <a:srgbClr val="120808"/>
          </a:solidFill>
          <a:ln w="9525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1744"/>
                </a:solidFill>
                <a:latin typeface="Courier New"/>
              </a:rP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9019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PROD-4521: PaymentService NPE — Correlated to payment-service v4.8.2, deployed 14 min prior. Rollback recommended.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87168"/>
            <a:ext cx="502920" cy="530352"/>
          </a:xfrm>
          <a:prstGeom prst="rect">
            <a:avLst/>
          </a:prstGeom>
          <a:solidFill>
            <a:srgbClr val="120808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578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ourier New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PROD-4487: Acme Corp Checkout — Causal chain: feature flag + NPE bug. 2,400 users affected.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45536"/>
            <a:ext cx="502920" cy="530352"/>
          </a:xfrm>
          <a:prstGeom prst="rect">
            <a:avLst/>
          </a:prstGeom>
          <a:solidFill>
            <a:srgbClr val="120808"/>
          </a:solidFill>
          <a:ln w="9525">
            <a:solidFill>
              <a:srgbClr val="FFE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23697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300"/>
                </a:solidFill>
                <a:latin typeface="Courier New"/>
              </a:rPr>
              <a:t>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2186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PROD-4519: Slow Uploads — Signing-service URL TTL reduced 3600s→300s. Rollback available.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03904"/>
            <a:ext cx="502920" cy="530352"/>
          </a:xfrm>
          <a:prstGeom prst="rect">
            <a:avLst/>
          </a:prstGeom>
          <a:solidFill>
            <a:srgbClr val="120808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89534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ourier New"/>
              </a:rP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87705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PROD-4533: Reporting DB Timeouts — 3 enterprise customers, 18% error rate, no deploy correlation.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COMPLIANCE VIOLATIONS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011680"/>
            <a:ext cx="5029200" cy="685800"/>
          </a:xfrm>
          <a:prstGeom prst="rect">
            <a:avLst/>
          </a:prstGeom>
          <a:solidFill>
            <a:srgbClr val="0C0810"/>
          </a:solidFill>
          <a:ln w="9525">
            <a:solidFill>
              <a:srgbClr val="25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0" y="2011680"/>
            <a:ext cx="54864" cy="68580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9168" y="20482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1744"/>
                </a:solidFill>
                <a:latin typeface="Courier New"/>
              </a:rPr>
              <a:t>CRITICAL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23042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Sirius Storage: EU data in Malaysia only — no residency guarantee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816352"/>
            <a:ext cx="5029200" cy="685800"/>
          </a:xfrm>
          <a:prstGeom prst="rect">
            <a:avLst/>
          </a:prstGeom>
          <a:solidFill>
            <a:srgbClr val="0C0810"/>
          </a:solidFill>
          <a:ln w="9525">
            <a:solidFill>
              <a:srgbClr val="25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2816352"/>
            <a:ext cx="54864" cy="68580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9168" y="28529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1744"/>
                </a:solidFill>
                <a:latin typeface="Courier New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31089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Sirius Storage: Breach notification 'in due course' — no 72h window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621024"/>
            <a:ext cx="5029200" cy="685800"/>
          </a:xfrm>
          <a:prstGeom prst="rect">
            <a:avLst/>
          </a:prstGeom>
          <a:solidFill>
            <a:srgbClr val="0C0810"/>
          </a:solidFill>
          <a:ln w="9525">
            <a:solidFill>
              <a:srgbClr val="25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0" y="3621024"/>
            <a:ext cx="54864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9168" y="36576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6B35"/>
                </a:solidFill>
                <a:latin typeface="Courier New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9136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Sirius Storage: 5-year lock-in, no termination for convenience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425696"/>
            <a:ext cx="5029200" cy="685800"/>
          </a:xfrm>
          <a:prstGeom prst="rect">
            <a:avLst/>
          </a:prstGeom>
          <a:solidFill>
            <a:srgbClr val="0C0810"/>
          </a:solidFill>
          <a:ln w="9525">
            <a:solidFill>
              <a:srgbClr val="25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0" y="4425696"/>
            <a:ext cx="54864" cy="68580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59168" y="4462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1744"/>
                </a:solidFill>
                <a:latin typeface="Courier New"/>
              </a:rPr>
              <a:t>CRITICAL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47183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Acme: Breach notification 96h (policy requires 72h)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230368"/>
            <a:ext cx="5029200" cy="685800"/>
          </a:xfrm>
          <a:prstGeom prst="rect">
            <a:avLst/>
          </a:prstGeom>
          <a:solidFill>
            <a:srgbClr val="0C0810"/>
          </a:solidFill>
          <a:ln w="9525">
            <a:solidFill>
              <a:srgbClr val="25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5230368"/>
            <a:ext cx="54864" cy="6858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9168" y="5266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ourier New"/>
              </a:rPr>
              <a:t>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55229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+ 5 further violations across both contracts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47673" cy="45720"/>
          </a:xfrm>
          <a:prstGeom prst="rect">
            <a:avLst/>
          </a:prstGeom>
          <a:solidFill>
            <a:srgbClr val="FFE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Wayne Enterprises — Ops Intelligence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6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SUPPORTING ARGUMENT 3 —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E300"/>
                </a:solidFill>
                <a:latin typeface="Calibri"/>
              </a:rPr>
              <a:t>Command-centre visibility for your entire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300"/>
                </a:solidFill>
                <a:latin typeface="Calibri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5681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Real-time stats — open issues, P0s, new today, compliance violations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300"/>
                </a:solidFill>
                <a:latin typeface="Calibr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4261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Five drilldown charts — by type, by day, by week, by month; click any segment for the underlying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300"/>
                </a:solidFill>
                <a:latin typeface="Calibri"/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2841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Zero infrastructure — a single HTML file reading live from the GitHub API; share the URL,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3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300"/>
                </a:solidFill>
                <a:latin typeface="Calibr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14215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Automatic updates — every agent run adds new data; the dashboard reflects it on next refresh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691640"/>
            <a:ext cx="5029200" cy="4754880"/>
          </a:xfrm>
          <a:prstGeom prst="rect">
            <a:avLst/>
          </a:prstGeom>
          <a:solidFill>
            <a:srgbClr val="0A0A0A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1783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Courier New"/>
              </a:rPr>
              <a:t>WAYNE ENTERPRISES — COMMAND CENTER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176272"/>
            <a:ext cx="2148840" cy="777240"/>
          </a:xfrm>
          <a:prstGeom prst="rect">
            <a:avLst/>
          </a:prstGeom>
          <a:solidFill>
            <a:srgbClr val="111111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2176272"/>
            <a:ext cx="54864" cy="777240"/>
          </a:xfrm>
          <a:prstGeom prst="rect">
            <a:avLst/>
          </a:prstGeom>
          <a:solidFill>
            <a:srgbClr val="FFE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68312" y="219456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E300"/>
                </a:solidFill>
                <a:latin typeface="Calibr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7004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OPEN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176272"/>
            <a:ext cx="2148840" cy="777240"/>
          </a:xfrm>
          <a:prstGeom prst="rect">
            <a:avLst/>
          </a:prstGeom>
          <a:solidFill>
            <a:srgbClr val="111111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176272"/>
            <a:ext cx="54864" cy="7772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2" y="219456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1744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67004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P0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3154680"/>
            <a:ext cx="2148840" cy="777240"/>
          </a:xfrm>
          <a:prstGeom prst="rect">
            <a:avLst/>
          </a:prstGeom>
          <a:solidFill>
            <a:srgbClr val="111111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03720" y="3154680"/>
            <a:ext cx="54864" cy="77724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8312" y="31729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9B6F6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364845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TODAY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3154680"/>
            <a:ext cx="2148840" cy="777240"/>
          </a:xfrm>
          <a:prstGeom prst="rect">
            <a:avLst/>
          </a:prstGeom>
          <a:solidFill>
            <a:srgbClr val="111111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3154680"/>
            <a:ext cx="54864" cy="777240"/>
          </a:xfrm>
          <a:prstGeom prst="rect">
            <a:avLst/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31729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BA68C8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364845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114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6B35"/>
                </a:solidFill>
                <a:latin typeface="Courier New"/>
              </a:rPr>
              <a:t>TRIAGE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4169663"/>
            <a:ext cx="3474720" cy="201168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03920" y="4169663"/>
            <a:ext cx="1320393" cy="2011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4572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9B6F6"/>
                </a:solidFill>
                <a:latin typeface="Courier New"/>
              </a:rPr>
              <a:t>CORRELATION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4626864"/>
            <a:ext cx="3474720" cy="201168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03920" y="4626864"/>
            <a:ext cx="972921" cy="201168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5029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68C8"/>
                </a:solidFill>
                <a:latin typeface="Courier New"/>
              </a:rPr>
              <a:t>COMPLIANCE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5084064"/>
            <a:ext cx="3474720" cy="201168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0" y="5084064"/>
            <a:ext cx="2223820" cy="201168"/>
          </a:xfrm>
          <a:prstGeom prst="rect">
            <a:avLst/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E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Wayne Enterprises — Ops Intelligence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7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E300"/>
                </a:solidFill>
                <a:latin typeface="Calibri"/>
              </a:rPr>
              <a:t>What we do next, together.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05840" cy="502920"/>
          </a:xfrm>
          <a:prstGeom prst="rect">
            <a:avLst/>
          </a:prstGeom>
          <a:solidFill>
            <a:srgbClr val="181600"/>
          </a:solidFill>
          <a:ln w="9525">
            <a:solidFill>
              <a:srgbClr val="50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11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300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Fork this pattern into your own repo — point the agent at your real incident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33472"/>
            <a:ext cx="1005840" cy="502920"/>
          </a:xfrm>
          <a:prstGeom prst="rect">
            <a:avLst/>
          </a:prstGeom>
          <a:solidFill>
            <a:srgbClr val="181600"/>
          </a:solidFill>
          <a:ln w="9525">
            <a:solidFill>
              <a:srgbClr val="50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7249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300"/>
                </a:solidFill>
                <a:latin typeface="Calibr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724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Extend CLAUDE.md with your runbooks, your severity definitions, your compliance policy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46704"/>
            <a:ext cx="1005840" cy="502920"/>
          </a:xfrm>
          <a:prstGeom prst="rect">
            <a:avLst/>
          </a:prstGeom>
          <a:solidFill>
            <a:srgbClr val="181600"/>
          </a:solidFill>
          <a:ln w="9525">
            <a:solidFill>
              <a:srgbClr val="50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43814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300"/>
                </a:solidFill>
                <a:latin typeface="Calibr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4381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Add Slack or PagerDuty webhook so P0s page on-call immediately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59935"/>
            <a:ext cx="1005840" cy="502920"/>
          </a:xfrm>
          <a:prstGeom prst="rect">
            <a:avLst/>
          </a:prstGeom>
          <a:solidFill>
            <a:srgbClr val="181600"/>
          </a:solidFill>
          <a:ln w="9525">
            <a:solidFill>
              <a:srgbClr val="50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51375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300"/>
                </a:solidFill>
                <a:latin typeface="Calibr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151375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Schedule the 7-day cron renewal — or promote to a GitHub Action for full autonomy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WHAT YOU WALK AWAY WITH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148840"/>
            <a:ext cx="5029200" cy="548640"/>
          </a:xfrm>
          <a:prstGeom prst="rect">
            <a:avLst/>
          </a:prstGeom>
          <a:solidFill>
            <a:srgbClr val="101010"/>
          </a:solidFill>
          <a:ln w="9525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8D8D8"/>
                </a:solidFill>
                <a:latin typeface="Calibr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2240280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 working always-on agent in your GitHub repo — running right now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807208"/>
            <a:ext cx="5029200" cy="548640"/>
          </a:xfrm>
          <a:prstGeom prst="rect">
            <a:avLst/>
          </a:prstGeom>
          <a:solidFill>
            <a:srgbClr val="101010"/>
          </a:solidFill>
          <a:ln w="9525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2898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8D8D8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2898648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20 auto-filed GitHub Issues: triage, correlation, and compliance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465576"/>
            <a:ext cx="5029200" cy="548640"/>
          </a:xfrm>
          <a:prstGeom prst="rect">
            <a:avLst/>
          </a:prstGeom>
          <a:solidFill>
            <a:srgbClr val="101010"/>
          </a:solidFill>
          <a:ln w="9525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355701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8D8D8"/>
                </a:solidFill>
                <a:latin typeface="Calibri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3557016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 live ops dashboard requiring no infrastructure or backend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4123944"/>
            <a:ext cx="5029200" cy="548640"/>
          </a:xfrm>
          <a:prstGeom prst="rect">
            <a:avLst/>
          </a:prstGeom>
          <a:solidFill>
            <a:srgbClr val="101010"/>
          </a:solidFill>
          <a:ln w="9525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421538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8D8D8"/>
                </a:solidFill>
                <a:latin typeface="Calibr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4215383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 versioned, extensible CLAUDE.md that you 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782312"/>
            <a:ext cx="5029200" cy="548640"/>
          </a:xfrm>
          <a:prstGeom prst="rect">
            <a:avLst/>
          </a:prstGeom>
          <a:solidFill>
            <a:srgbClr val="101010"/>
          </a:solidFill>
          <a:ln w="9525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4873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8D8D8"/>
                </a:solidFill>
                <a:latin typeface="Calibri"/>
              </a:rP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4927" y="4873752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Zero ongoing infrastructure cost — runs inside Claude 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486400"/>
            <a:ext cx="5029200" cy="777240"/>
          </a:xfrm>
          <a:prstGeom prst="rect">
            <a:avLst/>
          </a:prstGeom>
          <a:solidFill>
            <a:srgbClr val="100E00"/>
          </a:solidFill>
          <a:ln w="9525">
            <a:solidFill>
              <a:srgbClr val="50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5559552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D8D8"/>
                </a:solidFill>
                <a:latin typeface="Calibri"/>
              </a:rPr>
              <a:t>The agent paid for itself before this presentation ended. It found 9 compliance violations your legal team hasn't seen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